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/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/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17.06.2026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 </a:t>
            </a:r>
          </a:p>
          <a:p>
            <a:pPr/>
            <a:r>
              <a:rPr sz="1300"/>
              <a:t>Ausgangslage</a:t>
            </a:r>
          </a:p>
          <a:p>
            <a:pPr/>
            <a:r>
              <a:rPr sz="1300"/>
              <a:t>Methodik</a:t>
            </a:r>
          </a:p>
          <a:p>
            <a:pPr/>
            <a:r>
              <a:rPr sz="1300"/>
              <a:t>Zielarchitektur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 wrap="square"/>
          <a:lstStyle/>
          <a:p>
            <a:pPr/>
            <a:r>
              <a:rPr sz="1300"/>
              <a:t>Governance</a:t>
            </a:r>
          </a:p>
          <a:p>
            <a:pPr/>
            <a:r>
              <a:rPr sz="1300"/>
              <a:t> </a:t>
            </a:r>
          </a:p>
          <a:p>
            <a:pPr/>
            <a:r>
              <a:rPr sz="1300"/>
              <a:t>§ 4  Policies &amp; Assignments</a:t>
            </a:r>
          </a:p>
          <a:p>
            <a:pPr/>
            <a:r>
              <a:rPr sz="1300"/>
              <a:t>§ 5  Netzwerk-Architektur</a:t>
            </a:r>
          </a:p>
          <a:p>
            <a:pPr/>
            <a:r>
              <a:rPr sz="1300"/>
              <a:t>§ 6  Sicherheit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 wrap="square"/>
          <a:lstStyle/>
          <a:p>
            <a:pPr/>
            <a:r>
              <a:rPr sz="1300"/>
              <a:t>Betrieb</a:t>
            </a:r>
          </a:p>
          <a:p>
            <a:pPr/>
            <a:r>
              <a:rPr sz="1300"/>
              <a:t> </a:t>
            </a:r>
          </a:p>
          <a:p>
            <a:pPr/>
            <a:r>
              <a:rPr sz="1300"/>
              <a:t>§ 7  Monitoring &amp; Logging</a:t>
            </a:r>
          </a:p>
          <a:p>
            <a:pPr/>
            <a:r>
              <a:rPr sz="1300"/>
              <a:t>§ 8  Identity &amp; RBAC</a:t>
            </a:r>
          </a:p>
          <a:p>
            <a:pPr/>
            <a:r>
              <a:rPr sz="1300"/>
              <a:t>§ 9  Automatisierung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3" sz="quarter"/>
          </p:nvPr>
        </p:nvSpPr>
        <p:spPr/>
        <p:txBody>
          <a:bodyPr wrap="square"/>
          <a:lstStyle/>
          <a:p>
            <a:pPr/>
            <a:r>
              <a:rPr sz="1300"/>
              <a:t>Wirtschaftlichkeit</a:t>
            </a:r>
          </a:p>
          <a:p>
            <a:pPr/>
            <a:r>
              <a:rPr sz="1300"/>
              <a:t> </a:t>
            </a:r>
          </a:p>
          <a:p>
            <a:pPr/>
            <a:r>
              <a:rPr sz="1300"/>
              <a:t>§ 10  Kosten &amp; Varianten</a:t>
            </a:r>
          </a:p>
          <a:p>
            <a:pPr/>
            <a:r>
              <a:rPr sz="1300"/>
              <a:t>§ 11  Roadmap &amp; Phasen</a:t>
            </a:r>
          </a:p>
          <a:p>
            <a:pPr/>
            <a:r>
              <a:rPr sz="1300"/>
              <a:t>§ 12–14  Risiken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Governance · Netzwerk · Sicherheit
als Code – reproduzierbar und auditfähig.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100"/>
              <a:t>Management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/>
              <a:t>Microsoft ALZ Bicep Accelerator  ·  149 Policies  ·  12 MGs  ·  ~€1.050/Monat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8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Drei Kernnutzen der Azure Landing Zone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149 Policy-Definitionen</a:t>
            </a:r>
          </a:p>
          <a:p>
            <a:pPr/>
            <a:r>
              <a:rPr sz="1100"/>
              <a:t>42 Initiativen</a:t>
            </a:r>
          </a:p>
          <a:p>
            <a:pPr/>
            <a:r>
              <a:rPr sz="1100"/>
              <a:t>123 Assignments auf 9 MG-Ebenen</a:t>
            </a:r>
          </a:p>
          <a:p>
            <a:pPr/>
            <a:r>
              <a:rPr sz="1100"/>
              <a:t>Automatisch – kein manueller Eingriff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100"/>
              <a:t>Hub-and-Spoke in GWC</a:t>
            </a:r>
          </a:p>
          <a:p>
            <a:pPr/>
            <a:r>
              <a:rPr sz="1100"/>
              <a:t>Azure Firewall · Bastion · VPN</a:t>
            </a:r>
          </a:p>
          <a:p>
            <a:pPr/>
            <a:r>
              <a:rPr sz="1100"/>
              <a:t>59 Private DNS Zonen</a:t>
            </a:r>
          </a:p>
          <a:p>
            <a:pPr/>
            <a:r>
              <a:rPr sz="1100"/>
              <a:t>Spoke-VNets per Vending-Template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idx="19" sz="quarter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20" sz="quarter"/>
          </p:nvPr>
        </p:nvSpPr>
        <p:spPr/>
      </p:sp>
      <p:sp>
        <p:nvSpPr>
          <p:cNvPr id="8" name="Text Placeholder 7"/>
          <p:cNvSpPr>
            <a:spLocks noGrp="1"/>
          </p:cNvSpPr>
          <p:nvPr>
            <p:ph type="body" idx="21" sz="quarter"/>
          </p:nvPr>
        </p:nvSpPr>
        <p:spPr/>
        <p:txBody>
          <a:bodyPr wrap="square"/>
          <a:lstStyle/>
          <a:p>
            <a:pPr/>
            <a:r>
              <a:rPr sz="1100"/>
              <a:t>Defender for Cloud auto-aktiviert</a:t>
            </a:r>
          </a:p>
          <a:p>
            <a:pPr/>
            <a:r>
              <a:rPr sz="1100"/>
              <a:t>CrowdStrike SIEM via Event Hub</a:t>
            </a:r>
          </a:p>
          <a:p>
            <a:pPr/>
            <a:r>
              <a:rPr sz="1100"/>
              <a:t>Break-Glass-Logging</a:t>
            </a:r>
          </a:p>
          <a:p>
            <a:pPr/>
            <a:r>
              <a:rPr sz="1100"/>
              <a:t>OIDC – keine Passwörter in Pipelines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2167128"/>
            <a:ext cx="3602736" cy="2523744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167128"/>
            <a:ext cx="3602736" cy="2523744"/>
          </a:xfrm>
          <a:prstGeom prst="rect">
            <a:avLst/>
          </a:prstGeom>
          <a:solidFill>
            <a:srgbClr val="23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Netzwerk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57031" y="2167128"/>
            <a:ext cx="3602736" cy="2523744"/>
          </a:xfrm>
          <a:prstGeom prst="rect">
            <a:avLst/>
          </a:prstGeom>
          <a:solidFill>
            <a:srgbClr val="053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Sicherheit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~€1.050 / Monat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/>
              <a:t>Management Summary · Bechtle-Empfehlung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4754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95959"/>
                </a:solidFill>
              </a:rPr>
              <a:t>Voller ALZ-Funktionsumfang · eine Region · 4× günstiger als Microsoft-Default (~€5.800)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Ohne Azure Landing Zone vs. Mit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Ohne ALZ</a:t>
            </a:r>
          </a:p>
          <a:p>
            <a:pPr lvl="1"/>
            <a:r>
              <a:rPr sz="1200"/>
              <a:t>Ressourcen entstehen ad hoc</a:t>
            </a:r>
          </a:p>
          <a:p>
            <a:pPr lvl="1"/>
            <a:r>
              <a:rPr sz="1200"/>
              <a:t>Keine einheitlichen Guardrails</a:t>
            </a:r>
          </a:p>
          <a:p>
            <a:pPr lvl="1"/>
            <a:r>
              <a:rPr sz="1200"/>
              <a:t>Sicherheitsbaselines manuell</a:t>
            </a:r>
          </a:p>
          <a:p>
            <a:pPr lvl="1"/>
            <a:r>
              <a:rPr sz="1200"/>
              <a:t>Keine Netzwerksegmentierung</a:t>
            </a:r>
          </a:p>
          <a:p>
            <a:pPr lvl="1"/>
            <a:r>
              <a:rPr sz="1200"/>
              <a:t>Compliance mühsam nachzuweisen</a:t>
            </a:r>
          </a:p>
          <a:p>
            <a:pPr lvl="1"/>
            <a:r>
              <a:rPr sz="1200"/>
              <a:t>Technische Schulden ab Tag 1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Mit ALZ (Bechtle)</a:t>
            </a:r>
          </a:p>
          <a:p>
            <a:pPr lvl="1"/>
            <a:r>
              <a:rPr sz="1200"/>
              <a:t>Standardisierter Verwaltungsrahmen</a:t>
            </a:r>
          </a:p>
          <a:p>
            <a:pPr lvl="1"/>
            <a:r>
              <a:rPr sz="1200"/>
              <a:t>149 Policies – automatische Guardrails</a:t>
            </a:r>
          </a:p>
          <a:p>
            <a:pPr lvl="1"/>
            <a:r>
              <a:rPr sz="1200"/>
              <a:t>Defender for Cloud via Policy</a:t>
            </a:r>
          </a:p>
          <a:p>
            <a:pPr lvl="1"/>
            <a:r>
              <a:rPr sz="1200"/>
              <a:t>Hub-and-Spoke – zentrale Firewall</a:t>
            </a:r>
          </a:p>
          <a:p>
            <a:pPr lvl="1"/>
            <a:r>
              <a:rPr sz="1200"/>
              <a:t>Audit-Trail in Git + Activity Log</a:t>
            </a:r>
          </a:p>
          <a:p>
            <a:pPr lvl="1"/>
            <a:r>
              <a:rPr sz="1200"/>
              <a:t>Skalierbar ohne Rearchitektur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Microsoft ALZ Bicep Accelerator – kein Eigenbau, kein Vendor-Lock-in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 – tausendfach erprobt, Microsoft-gepflegt</a:t>
            </a:r>
          </a:p>
          <a:p>
            <a:pPr/>
            <a:r>
              <a:rPr sz="1300"/>
              <a:t>20 Azure Verified Modules (AVM) – zertifiziertes IaC, kein Eigenbau</a:t>
            </a:r>
          </a:p>
          <a:p>
            <a:pPr/>
            <a:r>
              <a:rPr sz="1300"/>
              <a:t>18 geordnete Stufen:  Governance (1–12)  →  RBAC (13–15)  →  Logging (16)  →  Netzwerk (17/18)</a:t>
            </a:r>
          </a:p>
          <a:p>
            <a:pPr/>
            <a:r>
              <a:rPr sz="1300"/>
              <a:t>OIDC Federated Identity – keine Secrets oder Zertifikate in Pipelines</a:t>
            </a:r>
          </a:p>
          <a:p>
            <a:pPr/>
            <a:r>
              <a:rPr sz="1300"/>
              <a:t>What-If vor Apply – Änderungsvorschau und Approval-Gate vor jedem Deploy</a:t>
            </a:r>
          </a:p>
          <a:p>
            <a:pPr/>
            <a:r>
              <a:rPr sz="1300"/>
              <a:t>Bicep Build: alle 20 Templates grün (Bicep 0.44.1) · CI läuft auf jedem PR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12 Management Groups  ·  Hub-and-Spoke  ·  Germany West Central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12 MGs</a:t>
            </a:r>
          </a:p>
          <a:p>
            <a:pPr/>
            <a:r>
              <a:rPr sz="1300"/>
              <a:t>Hub-VNet 10.0.0.0/22</a:t>
            </a:r>
          </a:p>
          <a:p>
            <a:pPr/>
            <a:r>
              <a:rPr sz="1300"/>
              <a:t>Private DNS 59 Zonen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alz-hub-spok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14133" r="1413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Hub-and-Spoke-Topologie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Connectivity Sub: Firewall · Bastion · VPN · DNS</a:t>
            </a:r>
          </a:p>
          <a:p>
            <a:pPr/>
            <a:r>
              <a:rPr sz="1100"/>
              <a:t>alz-corp: interne Workloads, Private Endpoints</a:t>
            </a:r>
          </a:p>
          <a:p>
            <a:pPr/>
            <a:r>
              <a:rPr sz="1100"/>
              <a:t>alz-online: internet-facing Dienste</a:t>
            </a:r>
          </a:p>
          <a:p>
            <a:pPr/>
            <a:r>
              <a:rPr sz="1100"/>
              <a:t>On-Prem: VPN aktiv · ExpressRoute deferred</a:t>
            </a:r>
          </a:p>
          <a:p>
            <a:pPr/>
            <a:r>
              <a:rPr sz="1100"/>
              <a:t>SIEM: CrowdStrike via Event Hub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alz → alz-platform → connectivity / identity / management / security</a:t>
            </a:r>
          </a:p>
          <a:p>
            <a:pPr/>
            <a:r>
              <a:rPr sz="1100"/>
              <a:t>alz → alz-landingzones → corp / online / local</a:t>
            </a:r>
          </a:p>
          <a:p>
            <a:pPr/>
            <a:r>
              <a:rPr sz="1100"/>
              <a:t>alz → alz-sandbox  ·  alz-decommissioned</a:t>
            </a:r>
          </a:p>
          <a:p>
            <a:pPr/>
            <a:r>
              <a:rPr sz="1100"/>
              <a:t>DoNotEnforce: Audit-Modus schützt Bestand</a:t>
            </a:r>
          </a:p>
          <a:p>
            <a:pPr/>
            <a:r>
              <a:rPr sz="1100"/>
              <a:t>Exemptions für Legacy-Ressourcen möglich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  <p:pic>
        <p:nvPicPr>
          <p:cNvPr id="5" name="Picture Placeholder 4" descr="alz-mg-hierarchy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35306" r="35306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Einstieg (Single-Sub) vs. Produktionsbetrieb (Multi-Sub)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Phase 1 – Single Subscription</a:t>
            </a:r>
          </a:p>
          <a:p>
            <a:pPr lvl="1"/>
            <a:r>
              <a:rPr sz="1200"/>
              <a:t>Alle Platform-Rollen auf 1 Sub</a:t>
            </a:r>
          </a:p>
          <a:p>
            <a:pPr lvl="1"/>
            <a:r>
              <a:rPr sz="1200"/>
              <a:t>MG-Hierarchie identisch zu Prod</a:t>
            </a:r>
          </a:p>
          <a:p>
            <a:pPr lvl="1"/>
            <a:r>
              <a:rPr sz="1200"/>
              <a:t>Sofortiger Pilot ohne PoC-Overhead</a:t>
            </a:r>
          </a:p>
          <a:p>
            <a:pPr lvl="1"/>
            <a:r>
              <a:rPr sz="1200"/>
              <a:t>Smoke Run: bash smokerun/run.sh</a:t>
            </a:r>
          </a:p>
          <a:p>
            <a:pPr lvl="1"/>
            <a:r>
              <a:rPr sz="1200"/>
              <a:t>Kosten: Ressourcen wie Prod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 · Subscription-Strategie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Phase 2 – Dedizierte Platform-Subs</a:t>
            </a:r>
          </a:p>
          <a:p>
            <a:pPr lvl="1"/>
            <a:r>
              <a:rPr sz="1200"/>
              <a:t>sub-alz-connectivity (Hub/FW)</a:t>
            </a:r>
          </a:p>
          <a:p>
            <a:pPr lvl="1"/>
            <a:r>
              <a:rPr sz="1200"/>
              <a:t>sub-alz-management  (LAW/DCR)</a:t>
            </a:r>
          </a:p>
          <a:p>
            <a:pPr lvl="1"/>
            <a:r>
              <a:rPr sz="1200"/>
              <a:t>sub-alz-identity     (AD DS)</a:t>
            </a:r>
          </a:p>
          <a:p>
            <a:pPr lvl="1"/>
            <a:r>
              <a:rPr sz="1200"/>
              <a:t>sub-alz-security     (Defender)</a:t>
            </a:r>
          </a:p>
          <a:p>
            <a:pPr lvl="1"/>
            <a:r>
              <a:rPr sz="1200"/>
              <a:t>Blast-Radius-Isolation je Rolle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149 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9 MG-Ebenen</a:t>
            </a:r>
          </a:p>
          <a:p>
            <a:pPr/>
            <a:r>
              <a:rPr sz="1300"/>
              <a:t>5 Custom RBAC-Rollen</a:t>
            </a:r>
          </a:p>
          <a:p>
            <a:pPr/>
            <a:r>
              <a:rPr sz="1300"/>
              <a:t>DoNotEnforce → kein Produktionsrisiko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8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Monitoring / Diagnose: 67</a:t>
            </a:r>
          </a:p>
          <a:p>
            <a:pPr/>
            <a:r>
              <a:rPr sz="1100"/>
              <a:t>Netzwerk: 20</a:t>
            </a:r>
          </a:p>
          <a:p>
            <a:pPr/>
            <a:r>
              <a:rPr sz="1100"/>
              <a:t>Storage: 16</a:t>
            </a:r>
          </a:p>
          <a:p>
            <a:pPr/>
            <a:r>
              <a:rPr sz="1100"/>
              <a:t>SQL &amp; Datenbanken: 13</a:t>
            </a:r>
          </a:p>
          <a:p>
            <a:pPr/>
            <a:r>
              <a:rPr sz="1100"/>
              <a:t>Security &amp; Defender: 12</a:t>
            </a:r>
          </a:p>
          <a:p>
            <a:pPr/>
            <a:r>
              <a:rPr sz="1100"/>
              <a:t>Compute &amp; Backup: 11</a:t>
            </a:r>
          </a:p>
          <a:p>
            <a:pPr/>
            <a:r>
              <a:rPr sz="1100"/>
              <a:t>Governance &amp; Tagging: 10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100"/>
              <a:t>Deploy-MDFC-Config</a:t>
            </a:r>
          </a:p>
          <a:p>
            <a:pPr/>
            <a:r>
              <a:rPr sz="1100"/>
              <a:t>Deploy-Private-DNS-Zones (59)</a:t>
            </a:r>
          </a:p>
          <a:p>
            <a:pPr/>
            <a:r>
              <a:rPr sz="1100"/>
              <a:t>Enforce-Guardrails-* (26 Dienste)</a:t>
            </a:r>
          </a:p>
          <a:p>
            <a:pPr/>
            <a:r>
              <a:rPr sz="1100"/>
              <a:t>Deploy-VM/VMSS-Monitoring</a:t>
            </a:r>
          </a:p>
          <a:p>
            <a:pPr/>
            <a:r>
              <a:rPr sz="1100"/>
              <a:t>Deploy-MDEndpoints</a:t>
            </a:r>
          </a:p>
          <a:p>
            <a:pPr/>
            <a:r>
              <a:rPr sz="1100"/>
              <a:t>Enforce-ACSB</a:t>
            </a:r>
          </a:p>
          <a:p>
            <a:pPr/>
            <a:r>
              <a:rPr sz="1100"/>
              <a:t>Deploy-VM-Backup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idx="19" sz="quarter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20" sz="quarter"/>
          </p:nvPr>
        </p:nvSpPr>
        <p:spPr/>
      </p:sp>
      <p:sp>
        <p:nvSpPr>
          <p:cNvPr id="8" name="Text Placeholder 7"/>
          <p:cNvSpPr>
            <a:spLocks noGrp="1"/>
          </p:cNvSpPr>
          <p:nvPr>
            <p:ph type="body" idx="21" sz="quarter"/>
          </p:nvPr>
        </p:nvSpPr>
        <p:spPr/>
        <p:txBody>
          <a:bodyPr wrap="square"/>
          <a:lstStyle/>
          <a:p>
            <a:pPr/>
            <a:r>
              <a:rPr sz="1100"/>
              <a:t>alz-Root:             17</a:t>
            </a:r>
          </a:p>
          <a:p>
            <a:pPr/>
            <a:r>
              <a:rPr sz="1100"/>
              <a:t>alz-landingzones:     53</a:t>
            </a:r>
          </a:p>
          <a:p>
            <a:pPr/>
            <a:r>
              <a:rPr sz="1100"/>
              <a:t>alz-platform:         40</a:t>
            </a:r>
          </a:p>
          <a:p>
            <a:pPr/>
            <a:r>
              <a:rPr sz="1100"/>
              <a:t>alz-corp:              5</a:t>
            </a:r>
          </a:p>
          <a:p>
            <a:pPr/>
            <a:r>
              <a:rPr sz="1100"/>
              <a:t>alz-identity:          4</a:t>
            </a:r>
          </a:p>
          <a:p>
            <a:pPr/>
            <a:r>
              <a:rPr sz="1100"/>
              <a:t>alz-connectivity:      1</a:t>
            </a:r>
          </a:p>
          <a:p>
            <a:pPr/>
            <a:r>
              <a:rPr sz="1100"/>
              <a:t>Sandbox + Decomm:      2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2167128"/>
            <a:ext cx="3602736" cy="2523744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149 Definitionen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167128"/>
            <a:ext cx="3602736" cy="2523744"/>
          </a:xfrm>
          <a:prstGeom prst="rect">
            <a:avLst/>
          </a:prstGeom>
          <a:solidFill>
            <a:srgbClr val="23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42 Initiativen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57031" y="2167128"/>
            <a:ext cx="3602736" cy="2523744"/>
          </a:xfrm>
          <a:prstGeom prst="rect">
            <a:avLst/>
          </a:prstGeom>
          <a:solidFill>
            <a:srgbClr val="053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123 Assignments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DoNotEnforce-Modus: sicheres Onboarding bestehender Ressourcen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Ohne DoNotEnforce</a:t>
            </a:r>
          </a:p>
          <a:p>
            <a:pPr lvl="1"/>
            <a:r>
              <a:rPr sz="1200"/>
              <a:t>Policies blockieren sofort</a:t>
            </a:r>
          </a:p>
          <a:p>
            <a:pPr lvl="1"/>
            <a:r>
              <a:rPr sz="1200"/>
              <a:t>Bestehende Ressourcen brechen</a:t>
            </a:r>
          </a:p>
          <a:p>
            <a:pPr lvl="1"/>
            <a:r>
              <a:rPr sz="1200"/>
              <a:t>Produktion kann unterbrochen werden</a:t>
            </a:r>
          </a:p>
          <a:p>
            <a:pPr lvl="1"/>
            <a:r>
              <a:rPr sz="1200"/>
              <a:t>Kein Audit vor Enforcement</a:t>
            </a:r>
          </a:p>
          <a:p>
            <a:pPr lvl="1"/>
            <a:r>
              <a:rPr sz="1200"/>
              <a:t>Rollback-Risiko bei Fehlkonfiguration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 · Onboarding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Mit DoNotEnforce (Bechtle-Standard)</a:t>
            </a:r>
          </a:p>
          <a:p>
            <a:pPr lvl="1"/>
            <a:r>
              <a:rPr sz="1200"/>
              <a:t>Policies werden ausgewertet, nicht erzwungen</a:t>
            </a:r>
          </a:p>
          <a:p>
            <a:pPr lvl="1"/>
            <a:r>
              <a:rPr sz="1200"/>
              <a:t>Compliance-Dashboard zeigt Handlungsbedarf</a:t>
            </a:r>
          </a:p>
          <a:p>
            <a:pPr lvl="1"/>
            <a:r>
              <a:rPr sz="1200"/>
              <a:t>Bestehende Ressourcen laufen ungestört</a:t>
            </a:r>
          </a:p>
          <a:p>
            <a:pPr lvl="1"/>
            <a:r>
              <a:rPr sz="1200"/>
              <a:t>Audit-Phase 4–8 Wochen</a:t>
            </a:r>
          </a:p>
          <a:p>
            <a:pPr lvl="1"/>
            <a:r>
              <a:rPr sz="1200"/>
              <a:t>Selektives Enforcing nach Remediation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Hub-and-Spoke · Germany West Central  · 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alz-hub-spok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14133" r="1413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Connectivity Subscription im Detail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Azure Firewall Standard:  ~€700/Mon.</a:t>
            </a:r>
          </a:p>
          <a:p>
            <a:pPr/>
            <a:r>
              <a:rPr sz="1100"/>
              <a:t>Azure Bastion Standard:   ~€120/Mon.</a:t>
            </a:r>
          </a:p>
          <a:p>
            <a:pPr/>
            <a:r>
              <a:rPr sz="1100"/>
              <a:t>VPN Gateway VpnGw1AZ:     ~€140/Mon.</a:t>
            </a:r>
          </a:p>
          <a:p>
            <a:pPr/>
            <a:r>
              <a:rPr sz="1100"/>
              <a:t>DNS Private Resolver + 59 Zonen: ~€25</a:t>
            </a:r>
          </a:p>
          <a:p>
            <a:pPr/>
            <a:r>
              <a:rPr sz="1100"/>
              <a:t>Key Vault · Event Hub · UDR → FW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Microsoft-Default vs. Bechtle-Empfehlung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Microsoft-Default  ~€5.800/Mon.</a:t>
            </a:r>
          </a:p>
          <a:p>
            <a:pPr lvl="1"/>
            <a:r>
              <a:rPr sz="1200"/>
              <a:t>Azure Firewall Premium 2×   ~€2.200</a:t>
            </a:r>
          </a:p>
          <a:p>
            <a:pPr lvl="1"/>
            <a:r>
              <a:rPr sz="1200"/>
              <a:t>DDoS Network Protection      ~€2.500</a:t>
            </a:r>
          </a:p>
          <a:p>
            <a:pPr lvl="1"/>
            <a:r>
              <a:rPr sz="1200"/>
              <a:t>ExpressRoute Gateway 2×        ~€560</a:t>
            </a:r>
          </a:p>
          <a:p>
            <a:pPr lvl="1"/>
            <a:r>
              <a:rPr sz="1200"/>
              <a:t>VPN Gateway 2×                  ~€280</a:t>
            </a:r>
          </a:p>
          <a:p>
            <a:pPr lvl="1"/>
            <a:r>
              <a:rPr sz="1200"/>
              <a:t>Azure Bastion 2×                ~€240</a:t>
            </a:r>
          </a:p>
          <a:p>
            <a:pPr lvl="1"/>
            <a:r>
              <a:rPr sz="1200"/>
              <a:t>2 Regionen: GWC + North Europe</a:t>
            </a:r>
          </a:p>
          <a:p>
            <a:pPr lvl="1"/>
            <a:r>
              <a:rPr sz="1200"/>
              <a:t>Alle Dienste von Beginn an aktiv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 · Kostenvergleich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Bechtle-Empfehlung  ~€1.050/Mon.</a:t>
            </a:r>
          </a:p>
          <a:p>
            <a:pPr lvl="1"/>
            <a:r>
              <a:rPr sz="1200"/>
              <a:t>Azure Firewall Standard 1×     ~€700</a:t>
            </a:r>
          </a:p>
          <a:p>
            <a:pPr lvl="1"/>
            <a:r>
              <a:rPr sz="1200"/>
              <a:t>DDoS: deferred (aktivierbar)</a:t>
            </a:r>
          </a:p>
          <a:p>
            <a:pPr lvl="1"/>
            <a:r>
              <a:rPr sz="1200"/>
              <a:t>ExpressRoute GW: deferred</a:t>
            </a:r>
          </a:p>
          <a:p>
            <a:pPr lvl="1"/>
            <a:r>
              <a:rPr sz="1200"/>
              <a:t>VPN Gateway 1×                  ~€140</a:t>
            </a:r>
          </a:p>
          <a:p>
            <a:pPr lvl="1"/>
            <a:r>
              <a:rPr sz="1200"/>
              <a:t>Azure Bastion 1×                ~€120</a:t>
            </a:r>
          </a:p>
          <a:p>
            <a:pPr lvl="1"/>
            <a:r>
              <a:rPr sz="1200"/>
              <a:t>1 Region: Germany West Central</a:t>
            </a:r>
          </a:p>
          <a:p>
            <a:pPr lvl="1"/>
            <a:r>
              <a:rPr sz="1200"/>
              <a:t>In-Place-Upgrade ohne Rebuild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Defender for Cloud · CrowdStrike SIEM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8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Drei Sicherheitsebenen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Deny-Subnet-Without-Nsg</a:t>
            </a:r>
          </a:p>
          <a:p>
            <a:pPr/>
            <a:r>
              <a:rPr sz="1100"/>
              <a:t>Deny-MgmtPorts-Internet</a:t>
            </a:r>
          </a:p>
          <a:p>
            <a:pPr/>
            <a:r>
              <a:rPr sz="1100"/>
              <a:t>Deny-Public-IP (corp)</a:t>
            </a:r>
          </a:p>
          <a:p>
            <a:pPr/>
            <a:r>
              <a:rPr sz="1100"/>
              <a:t>Deny-Public-Endpoints (59 PaaS)</a:t>
            </a:r>
          </a:p>
          <a:p>
            <a:pPr/>
            <a:r>
              <a:rPr sz="1100"/>
              <a:t>HTTPS-only (Storage, SQL, AppGW)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100"/>
              <a:t>Defender for Cloud (via Policy)</a:t>
            </a:r>
          </a:p>
          <a:p>
            <a:pPr/>
            <a:r>
              <a:rPr sz="1100"/>
              <a:t>Activity Logs → Log Analytics</a:t>
            </a:r>
          </a:p>
          <a:p>
            <a:pPr/>
            <a:r>
              <a:rPr sz="1100"/>
              <a:t>Diagnose-Policies (67 Ressourcentypen)</a:t>
            </a:r>
          </a:p>
          <a:p>
            <a:pPr/>
            <a:r>
              <a:rPr sz="1100"/>
              <a:t>CrowdStrike SIEM via Event Hub</a:t>
            </a:r>
          </a:p>
          <a:p>
            <a:pPr/>
            <a:r>
              <a:rPr sz="1100"/>
              <a:t>Break-Glass-Account-Logging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idx="19" sz="quarter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20" sz="quarter"/>
          </p:nvPr>
        </p:nvSpPr>
        <p:spPr/>
      </p:sp>
      <p:sp>
        <p:nvSpPr>
          <p:cNvPr id="8" name="Text Placeholder 7"/>
          <p:cNvSpPr>
            <a:spLocks noGrp="1"/>
          </p:cNvSpPr>
          <p:nvPr>
            <p:ph type="body" idx="21" sz="quarter"/>
          </p:nvPr>
        </p:nvSpPr>
        <p:spPr/>
        <p:txBody>
          <a:bodyPr wrap="square"/>
          <a:lstStyle/>
          <a:p>
            <a:pPr/>
            <a:r>
              <a:rPr sz="1100"/>
              <a:t>Deploy-MDFC-Config-H224 (auto)</a:t>
            </a:r>
          </a:p>
          <a:p>
            <a:pPr/>
            <a:r>
              <a:rPr sz="1100"/>
              <a:t>Deploy-MDEndpoints auf alle VMs</a:t>
            </a:r>
          </a:p>
          <a:p>
            <a:pPr/>
            <a:r>
              <a:rPr sz="1100"/>
              <a:t>Defender for SQL (ATP)</a:t>
            </a:r>
          </a:p>
          <a:p>
            <a:pPr/>
            <a:r>
              <a:rPr sz="1100"/>
              <a:t>VM Backup Policy (auto-Sicherung)</a:t>
            </a:r>
          </a:p>
          <a:p>
            <a:pPr/>
            <a:r>
              <a:rPr sz="1100"/>
              <a:t>Logic Apps → On-Prem-Monitoring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2167128"/>
            <a:ext cx="3602736" cy="2523744"/>
          </a:xfrm>
          <a:prstGeom prst="rect">
            <a:avLst/>
          </a:prstGeom>
          <a:solidFill>
            <a:srgbClr val="075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Präventiv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167128"/>
            <a:ext cx="3602736" cy="2523744"/>
          </a:xfrm>
          <a:prstGeom prst="rect">
            <a:avLst/>
          </a:prstGeom>
          <a:solidFill>
            <a:srgbClr val="23A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Detektiv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57031" y="2167128"/>
            <a:ext cx="3602736" cy="2523744"/>
          </a:xfrm>
          <a:prstGeom prst="rect">
            <a:avLst/>
          </a:prstGeom>
          <a:solidFill>
            <a:srgbClr val="053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Reaktiv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Zentraler Log Analytics Workspace  · 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 Logging-Plattform (AVM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Infrastruktur (deployed)</a:t>
            </a:r>
          </a:p>
          <a:p>
            <a:pPr lvl="1"/>
            <a:r>
              <a:rPr sz="1200"/>
              <a:t>law-alz-gwe  (365 Tage, PerGB2018)</a:t>
            </a:r>
          </a:p>
          <a:p>
            <a:pPr lvl="1"/>
            <a:r>
              <a:rPr sz="1200"/>
              <a:t>mi-alz-gwe   (Managed Identity)</a:t>
            </a:r>
          </a:p>
          <a:p>
            <a:pPr lvl="1"/>
            <a:r>
              <a:rPr sz="1200"/>
              <a:t>dcr-vmi-alz-gwe  (VM Insights)</a:t>
            </a:r>
          </a:p>
          <a:p>
            <a:pPr lvl="1"/>
            <a:r>
              <a:rPr sz="1200"/>
              <a:t>dcr-ct-alz-gwe   (Change Tracking)</a:t>
            </a:r>
          </a:p>
          <a:p>
            <a:pPr lvl="1"/>
            <a:r>
              <a:rPr sz="1200"/>
              <a:t>dcr-mdfcsql-alz-gwe (Defender SQL)</a:t>
            </a:r>
          </a:p>
          <a:p>
            <a:pPr lvl="1"/>
            <a:r>
              <a:rPr sz="1200"/>
              <a:t>Kosten: 5 GB/Mon. kostenlos, ~€2/GB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Automatik (via DINE-Policies)</a:t>
            </a:r>
          </a:p>
          <a:p>
            <a:pPr lvl="1"/>
            <a:r>
              <a:rPr sz="1200"/>
              <a:t>Jede neue VM → AMA + DCR (auto)</a:t>
            </a:r>
          </a:p>
          <a:p>
            <a:pPr lvl="1"/>
            <a:r>
              <a:rPr sz="1200"/>
              <a:t>Activity Logs aller Subs → LAW</a:t>
            </a:r>
          </a:p>
          <a:p>
            <a:pPr lvl="1"/>
            <a:r>
              <a:rPr sz="1200"/>
              <a:t>Diagnose aller Ressourcentypen → LAW</a:t>
            </a:r>
          </a:p>
          <a:p>
            <a:pPr lvl="1"/>
            <a:r>
              <a:rPr sz="1200"/>
              <a:t>Defender for Cloud → Security-Events</a:t>
            </a:r>
          </a:p>
          <a:p>
            <a:pPr lvl="1"/>
            <a:r>
              <a:rPr sz="1200"/>
              <a:t>CrowdStrike: Event Hub Export → SIEM</a:t>
            </a:r>
          </a:p>
          <a:p>
            <a:pPr lvl="1"/>
            <a:r>
              <a:rPr sz="1200"/>
              <a:t>Roadmap: Microsoft Sentinel optional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5 Custom-Rollen  ·  Entra-ID-Gruppen  ·  Least Privilege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 auf Management-Group-Ebene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Subscription-Owner (alz)</a:t>
            </a:r>
          </a:p>
          <a:p>
            <a:pPr lvl="1"/>
            <a:r>
              <a:rPr sz="1200"/>
              <a:t>Delegierter Owner für Subscriptions – ohne volle Tenant-Rechte  →  Plattform-Admins</a:t>
            </a:r>
          </a:p>
          <a:p>
            <a:pPr/>
            <a:r>
              <a:rPr sz="1200"/>
              <a:t>Security-Operations (alz)</a:t>
            </a:r>
          </a:p>
          <a:p>
            <a:pPr lvl="1"/>
            <a:r>
              <a:rPr sz="1200"/>
              <a:t>Horizontale Sicherheitssicht: Defender, MDFC, Sentinel  →  SOC-Team</a:t>
            </a:r>
          </a:p>
          <a:p>
            <a:pPr/>
            <a:r>
              <a:rPr sz="1200"/>
              <a:t>Network-Management (alz-platform-connectivity)</a:t>
            </a:r>
          </a:p>
          <a:p>
            <a:pPr lvl="1"/>
            <a:r>
              <a:rPr sz="1200"/>
              <a:t>VNets · UDRs · NSGs · Firewall  →  Netzwerk-Team</a:t>
            </a:r>
          </a:p>
          <a:p>
            <a:pPr/>
            <a:r>
              <a:rPr sz="1200"/>
              <a:t>Application-Owners (alz-landingzones)</a:t>
            </a:r>
          </a:p>
          <a:p>
            <a:pPr lvl="1"/>
            <a:r>
              <a:rPr sz="1200"/>
              <a:t>Contributor auf eigene Resource Groups  →  Workload-Teams</a:t>
            </a:r>
          </a:p>
          <a:p>
            <a:pPr/>
            <a:r>
              <a:rPr sz="1200"/>
              <a:t>Network-Subnet-Contributor (alz-landingzones)</a:t>
            </a:r>
          </a:p>
          <a:p>
            <a:pPr lvl="1"/>
            <a:r>
              <a:rPr sz="1200"/>
              <a:t>Nur Subnetze in bestehenden VNets  →  delegierter Netzwerkzugriff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Pipeline-Workflow: Trigger → Validate → What-If → Approve → Deploy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OIDC Federated Identity: keine Secrets, keine Zertifikate, keine Passwörter</a:t>
            </a:r>
          </a:p>
          <a:p>
            <a:pPr/>
            <a:r>
              <a:rPr sz="1300"/>
              <a:t>Bicep Build auf jedem PR – statische Validierung ohne Azure-Verbindung</a:t>
            </a:r>
          </a:p>
          <a:p>
            <a:pPr/>
            <a:r>
              <a:rPr sz="1300"/>
              <a:t>What-If Preview: ARM-API zeigt geplante Änderungen vor dem Apply</a:t>
            </a:r>
          </a:p>
          <a:p>
            <a:pPr/>
            <a:r>
              <a:rPr sz="1300"/>
              <a:t>Approval-Gate (GitHub Environment 'production'): explizite Freigabe erforderlich</a:t>
            </a:r>
          </a:p>
          <a:p>
            <a:pPr/>
            <a:r>
              <a:rPr sz="1300"/>
              <a:t>18 Stufen sequenziell:  1–12 Governance  ·  13–15 RBAC  ·  16 Logging  ·  17/18 Netzwerk</a:t>
            </a:r>
          </a:p>
          <a:p>
            <a:pPr/>
            <a:r>
              <a:rPr sz="1300"/>
              <a:t>GitOps: jede Änderung = Commit → vollständiges Audit-Trail in Git-History</a:t>
            </a:r>
          </a:p>
          <a:p>
            <a:pPr/>
            <a:r>
              <a:rPr sz="1300"/>
              <a:t>Smoke Run in einer einzigen Sub: bash smokerun/run.sh --deploy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Gestufter Ausbau: €50 → €1.050 → €5.800 – volle Kostenkontrolle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~€1.050 / Monat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/>
              <a:t>Kosten und Kostensteuerung · Bechtle-Empfehlung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4754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95959"/>
                </a:solidFill>
              </a:rPr>
              <a:t>Option A – Bechtle-Standard: Firewall Standard 1×  ·  Bastion  ·  VPN Gateway  ·  ALZ-konform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6 Kostenstufen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Stufe 1 – Governance-Pilot     ~€50/Mon.</a:t>
            </a:r>
          </a:p>
          <a:p>
            <a:pPr lvl="1"/>
            <a:r>
              <a:rPr sz="1100"/>
              <a:t>network_type: none · MGs + Policies (DoNotEnforce) + Logging · kein Netzwerk</a:t>
            </a:r>
          </a:p>
          <a:p>
            <a:pPr/>
            <a:r>
              <a:rPr sz="1100"/>
              <a:t>Stufe 2 – Bechtle-Standard     ~€1.050/Mon.  ✅ Empfohlen</a:t>
            </a:r>
          </a:p>
          <a:p>
            <a:pPr lvl="1"/>
            <a:r>
              <a:rPr sz="1100"/>
              <a:t>FW Standard ~€700 · Bastion ~€120 · VPN GW ~€140 · DNS ~€25 · LAW ~€50</a:t>
            </a:r>
          </a:p>
          <a:p>
            <a:pPr/>
            <a:r>
              <a:rPr sz="1100"/>
              <a:t>Stufe 3 – Geo-Redundanz        ~€1.800/Mon.</a:t>
            </a:r>
          </a:p>
          <a:p>
            <a:pPr lvl="1"/>
            <a:r>
              <a:rPr sz="1100"/>
              <a:t>+ Sekundärer Hub North Europe · bidirektionales Peering</a:t>
            </a:r>
          </a:p>
          <a:p>
            <a:pPr/>
            <a:r>
              <a:rPr sz="1100"/>
              <a:t>Stufe 4 – Firewall Premium     ~€2.400/Mon.</a:t>
            </a:r>
          </a:p>
          <a:p>
            <a:pPr lvl="1"/>
            <a:r>
              <a:rPr sz="1100"/>
              <a:t>+ IDPS · TLS-Inspektion · URL-Filterung · Zertifikat-Rollout</a:t>
            </a:r>
          </a:p>
          <a:p>
            <a:pPr/>
            <a:r>
              <a:rPr sz="1100"/>
              <a:t>Stufe 5 – DDoS Protection      ~€4.900/Mon.</a:t>
            </a:r>
          </a:p>
          <a:p>
            <a:pPr lvl="1"/>
            <a:r>
              <a:rPr sz="1100"/>
              <a:t>+ DDoS Network Protection Plan (~€2.500 Fix) · nur bei internet-facing Workloads</a:t>
            </a:r>
          </a:p>
          <a:p>
            <a:pPr/>
            <a:r>
              <a:rPr sz="1100"/>
              <a:t>Stufe 6 – Microsoft-Default    ~€5.800/Mon.</a:t>
            </a:r>
          </a:p>
          <a:p>
            <a:pPr lvl="1"/>
            <a:r>
              <a:rPr sz="1100"/>
              <a:t>Alle Dienste · beide Regionen · maximale Redundanz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Bechtle-Varianten: ALZ-konform vs. Budget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Option A  ~€1.050 / B  ~€770  (ALZ-konform)</a:t>
            </a:r>
          </a:p>
          <a:p>
            <a:pPr lvl="1"/>
            <a:r>
              <a:rPr sz="1200"/>
              <a:t>A: Firewall Standard 1×  ~€700</a:t>
            </a:r>
          </a:p>
          <a:p>
            <a:pPr lvl="1"/>
            <a:r>
              <a:rPr sz="1200"/>
              <a:t>A: Bastion ~€120  ·  VPN GW ~€140</a:t>
            </a:r>
          </a:p>
          <a:p>
            <a:pPr lvl="1"/>
            <a:r>
              <a:rPr sz="1200"/>
              <a:t>A: DNS ~€25  ·  LAW ~€50  →  €1.050</a:t>
            </a:r>
          </a:p>
          <a:p>
            <a:pPr lvl="1"/>
            <a:r>
              <a:rPr sz="1200"/>
              <a:t>─────────────────────────────</a:t>
            </a:r>
          </a:p>
          <a:p>
            <a:pPr lvl="1"/>
            <a:r>
              <a:rPr sz="1200"/>
              <a:t>B: FW Standard reserved  ~€560</a:t>
            </a:r>
          </a:p>
          <a:p>
            <a:pPr lvl="1"/>
            <a:r>
              <a:rPr sz="1200"/>
              <a:t>B: VPN GW deferred (€0) · Bastion ~€120</a:t>
            </a:r>
          </a:p>
          <a:p>
            <a:pPr lvl="1"/>
            <a:r>
              <a:rPr sz="1200"/>
              <a:t>B: DNS ~€25  ·  LAW ~€50  →  ~€770</a:t>
            </a:r>
          </a:p>
          <a:p>
            <a:pPr lvl="1"/>
            <a:r>
              <a:rPr sz="1200"/>
              <a:t>B: 26 % günstiger als A · ALZ-konform ✅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 · Vier Varianten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Option C  ~€500  (ALZ-Bruch)  /  D  ~€5.800</a:t>
            </a:r>
          </a:p>
          <a:p>
            <a:pPr lvl="1"/>
            <a:r>
              <a:rPr sz="1200"/>
              <a:t>C: Firewall Basic  ~€300  ⚠ ALZ-Bruch</a:t>
            </a:r>
          </a:p>
          <a:p>
            <a:pPr lvl="1"/>
            <a:r>
              <a:rPr sz="1200"/>
              <a:t>C: Kein App-Rules · kein Threat Intel</a:t>
            </a:r>
          </a:p>
          <a:p>
            <a:pPr lvl="1"/>
            <a:r>
              <a:rPr sz="1200"/>
              <a:t>C: Bastion ~€120  ·  DNS ~€25 · LAW ~€50</a:t>
            </a:r>
          </a:p>
          <a:p>
            <a:pPr lvl="1"/>
            <a:r>
              <a:rPr sz="1200"/>
              <a:t>C: 52 % günstiger – aber eingeschränkt</a:t>
            </a:r>
          </a:p>
          <a:p>
            <a:pPr lvl="1"/>
            <a:r>
              <a:rPr sz="1200"/>
              <a:t>─────────────────────────────</a:t>
            </a:r>
          </a:p>
          <a:p>
            <a:pPr lvl="1"/>
            <a:r>
              <a:rPr sz="1200"/>
              <a:t>D: Microsoft-Default  ~€5.800/Mon.</a:t>
            </a:r>
          </a:p>
          <a:p>
            <a:pPr lvl="1"/>
            <a:r>
              <a:rPr sz="1200"/>
              <a:t>D: FW Premium 2× · DDoS Plan · ER GW 2×</a:t>
            </a:r>
          </a:p>
          <a:p>
            <a:pPr lvl="1"/>
            <a:r>
              <a:rPr sz="1200"/>
              <a:t>D: Maximale Redundanz · 452 % vs. 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Kickoff &amp; Discovery: Workshop · Region · Netzwerk · DDoS · Enforcement</a:t>
            </a:r>
          </a:p>
          <a:p>
            <a:pPr/>
            <a:r>
              <a:rPr sz="1300"/>
              <a:t>Phase 2 – Bootstrap:  Deploy-Accelerator · MGs + Policies (DoNotEnforce) · Logging  ≈ €0</a:t>
            </a:r>
          </a:p>
          <a:p>
            <a:pPr/>
            <a:r>
              <a:rPr sz="1300"/>
              <a:t>Phase 3 – Netzwerk-Pilot:  Hub-VNets · DNS · erste Spokes  →  ~€1.050/Mon.</a:t>
            </a:r>
          </a:p>
          <a:p>
            <a:pPr/>
            <a:r>
              <a:rPr sz="1300"/>
              <a:t>Phase 4 – Sicherheit:  Defender aktivieren · Guardrails einschalten · Remediation</a:t>
            </a:r>
          </a:p>
          <a:p>
            <a:pPr/>
            <a:r>
              <a:rPr sz="1300"/>
              <a:t>Phase 5 – Workload-Onboarding:  erste Applikation in ALZ · RBAC-Gruppen befüllen</a:t>
            </a:r>
          </a:p>
          <a:p>
            <a:pPr/>
            <a:r>
              <a:rPr sz="1300"/>
              <a:t>Phase 6 – Betrieb:  Cost Management · Tagging · Monitoring-Dashboards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12–14  ·  Risiken · Randthemen ·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Entscheidungen vor Projektstart – klären, bevor der Bootstrap läuft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Klärungsbedarf vor Bootstrap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Offene Entscheidungen</a:t>
            </a:r>
          </a:p>
          <a:p>
            <a:pPr lvl="1"/>
            <a:r>
              <a:rPr sz="1200"/>
              <a:t>network_type: none (€0) vs. hubNetworking (~€1.050)?</a:t>
            </a:r>
          </a:p>
          <a:p>
            <a:pPr lvl="1"/>
            <a:r>
              <a:rPr sz="1200"/>
              <a:t>Enforcement-Zeitpunkt: wann von DoNotEnforce auf Enabled?</a:t>
            </a:r>
          </a:p>
          <a:p>
            <a:pPr lvl="1"/>
            <a:r>
              <a:rPr sz="1200"/>
              <a:t>On-Prem-Anbindung: VPN vs. ExpressRoute vs. keins?</a:t>
            </a:r>
          </a:p>
          <a:p>
            <a:pPr lvl="1"/>
            <a:r>
              <a:rPr sz="1200"/>
              <a:t>Subscription-Typ: EA / MCA / PAYG?</a:t>
            </a:r>
          </a:p>
          <a:p>
            <a:pPr lvl="1"/>
            <a:r>
              <a:rPr sz="1200"/>
              <a:t>DDoS: deployDdosProtectionPlan: false für Start</a:t>
            </a:r>
          </a:p>
          <a:p>
            <a:pPr lvl="1"/>
            <a:r>
              <a:rPr sz="1200"/>
              <a:t>Defender-Tier: welche Pläne aktivieren?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pPr/>
            <a:r>
              <a:rPr sz="1200"/>
              <a:t>Sofortmaßnahmen vom Kunden</a:t>
            </a:r>
          </a:p>
          <a:p>
            <a:pPr lvl="1"/>
            <a:r>
              <a:rPr sz="1200"/>
              <a:t>Azure Tenant ID + Owner-Zugriff Tenant Root</a:t>
            </a:r>
          </a:p>
          <a:p>
            <a:pPr lvl="1"/>
            <a:r>
              <a:rPr sz="1200"/>
              <a:t>Subscription ID(s) bereitstellen</a:t>
            </a:r>
          </a:p>
          <a:p>
            <a:pPr lvl="1"/>
            <a:r>
              <a:rPr sz="1200"/>
              <a:t>Bestehende IP-Ranges mitteilen (Konfliktcheck)</a:t>
            </a:r>
          </a:p>
          <a:p>
            <a:pPr lvl="1"/>
            <a:r>
              <a:rPr sz="1200"/>
              <a:t>5 Entra-Gruppen anlegen + Object IDs</a:t>
            </a:r>
          </a:p>
          <a:p>
            <a:pPr lvl="1"/>
            <a:r>
              <a:rPr sz="1200"/>
              <a:t>Security-Contact-E-Mail benennen</a:t>
            </a:r>
          </a:p>
          <a:p>
            <a:pPr lvl="1"/>
            <a:r>
              <a:rPr sz="1200"/>
              <a:t>CrowdStrike-Ansprechpartner benennen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Tenant ID + Subscription ID → Smoke Run → Live in einer Woche.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100"/>
              <a:t>Nächste Schritte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/>
              <a:t>bash smokerun/run.sh --deploy  ·  verify.sh prüft 24 Checks automatisch  ·  teardown.sh für Cleanup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/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&lt;KUNDE&gt;</a:t>
            </a:r>
          </a:p>
          <a:p>
            <a:pPr/>
            <a:r>
              <a:rPr sz="1300"/>
              <a:t> </a:t>
            </a:r>
          </a:p>
          <a:p>
            <a:pPr/>
            <a:r>
              <a:rPr sz="1300"/>
              <a:t>Bechtle GmbH &amp; Co. KG</a:t>
            </a:r>
          </a:p>
          <a:p>
            <a:pPr/>
            <a:r>
              <a:rPr sz="1300"/>
              <a:t>Gottlieb-Daimler-Straße 2  ·  74172 Neckarsulm</a:t>
            </a:r>
          </a:p>
          <a:p>
            <a:pPr/>
            <a:r>
              <a:rPr sz="1300"/>
              <a:t>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