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75033"/>
                </a:solidFill>
              </a:rPr>
              <a:t>Zielarchitektur: Azure Landing Zone – Hub-and-Spoke-Topologie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548640"/>
            <a:ext cx="11887200" cy="22860"/>
          </a:xfrm>
          <a:prstGeom prst="rect">
            <a:avLst/>
          </a:prstGeom>
          <a:solidFill>
            <a:srgbClr val="23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z-hub-s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21792"/>
            <a:ext cx="8001000" cy="47672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" y="6629400"/>
            <a:ext cx="8001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595959"/>
                </a:solidFill>
              </a:rPr>
              <a:t>Quelle: Microsoft Cloud Adoption Framework · learn.microsoft.com (unverändert)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62179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66760" y="62179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6488" y="68580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Bechtle-Empfehlung (~€1.050/Mon.)</a:t>
            </a:r>
          </a:p>
          <a:p>
            <a:r>
              <a:rPr sz="800">
                <a:solidFill>
                  <a:srgbClr val="1A1A1A"/>
                </a:solidFill>
              </a:rPr>
              <a:t>Connectivity Sub: Firewall Standard 1×</a:t>
            </a:r>
          </a:p>
          <a:p>
            <a:r>
              <a:rPr sz="800">
                <a:solidFill>
                  <a:srgbClr val="1A1A1A"/>
                </a:solidFill>
              </a:rPr>
              <a:t>Bastion 1×  ·  VPN GW 1×  ·  DNS Resolver 1×</a:t>
            </a:r>
          </a:p>
          <a:p>
            <a:r>
              <a:rPr sz="800">
                <a:solidFill>
                  <a:srgbClr val="1A1A1A"/>
                </a:solidFill>
              </a:rPr>
              <a:t>Region: Germany West Central (GWC)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13055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66760" y="213055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76488" y="219456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Erweiterung: Geo-Redundanz (~€1.800)</a:t>
            </a:r>
          </a:p>
          <a:p>
            <a:r>
              <a:rPr sz="800">
                <a:solidFill>
                  <a:srgbClr val="1A1A1A"/>
                </a:solidFill>
              </a:rPr>
              <a:t>Zweiter Hub (North Europe) per</a:t>
            </a:r>
          </a:p>
          <a:p>
            <a:r>
              <a:rPr sz="800">
                <a:solidFill>
                  <a:srgbClr val="1A1A1A"/>
                </a:solidFill>
              </a:rPr>
              <a:t>additivem Parameter-Update –</a:t>
            </a:r>
          </a:p>
          <a:p>
            <a:r>
              <a:rPr sz="800">
                <a:solidFill>
                  <a:srgbClr val="1A1A1A"/>
                </a:solidFill>
              </a:rPr>
              <a:t>kein Rebuild erforderlich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63931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363931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370332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Landing Zones (Workload-Subs)</a:t>
            </a:r>
          </a:p>
          <a:p>
            <a:r>
              <a:rPr sz="800">
                <a:solidFill>
                  <a:srgbClr val="1A1A1A"/>
                </a:solidFill>
              </a:rPr>
              <a:t>alz-corp: interne Workloads (kein Public EP)</a:t>
            </a:r>
          </a:p>
          <a:p>
            <a:r>
              <a:rPr sz="800">
                <a:solidFill>
                  <a:srgbClr val="1A1A1A"/>
                </a:solidFill>
              </a:rPr>
              <a:t>alz-online: internetseitige Dienste</a:t>
            </a:r>
          </a:p>
          <a:p>
            <a:r>
              <a:rPr sz="800">
                <a:solidFill>
                  <a:srgbClr val="1A1A1A"/>
                </a:solidFill>
              </a:rPr>
              <a:t>alz-sandbox: Experimente / PoC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514807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514807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521208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On-Prem-Anbindung</a:t>
            </a:r>
          </a:p>
          <a:p>
            <a:r>
              <a:rPr sz="800">
                <a:solidFill>
                  <a:srgbClr val="1A1A1A"/>
                </a:solidFill>
              </a:rPr>
              <a:t>VPN Gateway: aktiv (Empfehlung)</a:t>
            </a:r>
          </a:p>
          <a:p>
            <a:r>
              <a:rPr sz="800">
                <a:solidFill>
                  <a:srgbClr val="1A1A1A"/>
                </a:solidFill>
              </a:rPr>
              <a:t>ExpressRoute: deferred – aktivieren</a:t>
            </a:r>
          </a:p>
          <a:p>
            <a:r>
              <a:rPr sz="800">
                <a:solidFill>
                  <a:srgbClr val="1A1A1A"/>
                </a:solidFill>
              </a:rPr>
              <a:t>bei ER-Leitungsbestellung</a:t>
            </a:r>
          </a:p>
          <a:p>
            <a:r>
              <a:rPr sz="800">
                <a:solidFill>
                  <a:srgbClr val="1A1A1A"/>
                </a:solidFill>
              </a:rPr>
              <a:t>CrowdStrike-SIEM: Event-Hub-Export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75033"/>
                </a:solidFill>
              </a:rPr>
              <a:t>Zielarchitektur: Management Group Hierarchie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548640"/>
            <a:ext cx="11887200" cy="22860"/>
          </a:xfrm>
          <a:prstGeom prst="rect">
            <a:avLst/>
          </a:prstGeom>
          <a:solidFill>
            <a:srgbClr val="23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z-mg-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21792"/>
            <a:ext cx="8001000" cy="26453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" y="6629400"/>
            <a:ext cx="8001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595959"/>
                </a:solidFill>
              </a:rPr>
              <a:t>Quelle: Microsoft Cloud Adoption Framework · learn.microsoft.com (unverändert)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62179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66760" y="62179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6488" y="68580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12 Management Groups</a:t>
            </a:r>
          </a:p>
          <a:p>
            <a:r>
              <a:rPr sz="800">
                <a:solidFill>
                  <a:srgbClr val="1A1A1A"/>
                </a:solidFill>
              </a:rPr>
              <a:t>Vollständig per ALZ Bicep Accelerator</a:t>
            </a:r>
          </a:p>
          <a:p>
            <a:r>
              <a:rPr sz="800">
                <a:solidFill>
                  <a:srgbClr val="1A1A1A"/>
                </a:solidFill>
              </a:rPr>
              <a:t>deployt – kein manueller Aufwand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13055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66760" y="213055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76488" y="219456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Policy-Vererbung</a:t>
            </a:r>
          </a:p>
          <a:p>
            <a:r>
              <a:rPr sz="800">
                <a:solidFill>
                  <a:srgbClr val="1A1A1A"/>
                </a:solidFill>
              </a:rPr>
              <a:t>149 Definitionen · 42 Initiativen</a:t>
            </a:r>
          </a:p>
          <a:p>
            <a:r>
              <a:rPr sz="800">
                <a:solidFill>
                  <a:srgbClr val="1A1A1A"/>
                </a:solidFill>
              </a:rPr>
              <a:t>123 Assignments – alz-Root vererbt</a:t>
            </a:r>
          </a:p>
          <a:p>
            <a:r>
              <a:rPr sz="800">
                <a:solidFill>
                  <a:srgbClr val="1A1A1A"/>
                </a:solidFill>
              </a:rPr>
              <a:t>an alle Child-MGs automatisch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63931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363931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370332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DoNotEnforce-Start</a:t>
            </a:r>
          </a:p>
          <a:p>
            <a:r>
              <a:rPr sz="800">
                <a:solidFill>
                  <a:srgbClr val="1A1A1A"/>
                </a:solidFill>
              </a:rPr>
              <a:t>Alle Policies starten im Audit-Modus.</a:t>
            </a:r>
          </a:p>
          <a:p>
            <a:r>
              <a:rPr sz="800">
                <a:solidFill>
                  <a:srgbClr val="1A1A1A"/>
                </a:solidFill>
              </a:rPr>
              <a:t>Bestehende Ressourcen werden</a:t>
            </a:r>
          </a:p>
          <a:p>
            <a:r>
              <a:rPr sz="800">
                <a:solidFill>
                  <a:srgbClr val="1A1A1A"/>
                </a:solidFill>
              </a:rPr>
              <a:t>gemeldet, nicht blockiert.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514807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514807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521208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Schutz bestehender Ressourcen</a:t>
            </a:r>
          </a:p>
          <a:p>
            <a:r>
              <a:rPr sz="800">
                <a:solidFill>
                  <a:srgbClr val="1A1A1A"/>
                </a:solidFill>
              </a:rPr>
              <a:t>What-If vor jedem Subscription-Move.</a:t>
            </a:r>
          </a:p>
          <a:p>
            <a:r>
              <a:rPr sz="800">
                <a:solidFill>
                  <a:srgbClr val="1A1A1A"/>
                </a:solidFill>
              </a:rPr>
              <a:t>Exemptions für Legacy-Ressourcen.</a:t>
            </a:r>
          </a:p>
          <a:p>
            <a:r>
              <a:rPr sz="800">
                <a:solidFill>
                  <a:srgbClr val="1A1A1A"/>
                </a:solidFill>
              </a:rPr>
              <a:t>Enforcement erst nach Audit-Phase</a:t>
            </a:r>
          </a:p>
          <a:p>
            <a:r>
              <a:rPr sz="800">
                <a:solidFill>
                  <a:srgbClr val="1A1A1A"/>
                </a:solidFill>
              </a:rPr>
              <a:t>(Empfehlung: 4–8 Wochen).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11887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75033"/>
                </a:solidFill>
              </a:rPr>
              <a:t>Netzwerk-Architektur: Hub-and-Spoke – Connectivity Subscription im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548640"/>
            <a:ext cx="11887200" cy="22860"/>
          </a:xfrm>
          <a:prstGeom prst="rect">
            <a:avLst/>
          </a:prstGeom>
          <a:solidFill>
            <a:srgbClr val="23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z-hub-s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21792"/>
            <a:ext cx="8001000" cy="47672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" y="6629400"/>
            <a:ext cx="8001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595959"/>
                </a:solidFill>
              </a:rPr>
              <a:t>Quelle: Microsoft Cloud Adoption Framework · learn.microsoft.com (unverändert)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62179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66760" y="62179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6488" y="68580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Azure Firewall Standard</a:t>
            </a:r>
          </a:p>
          <a:p>
            <a:r>
              <a:rPr sz="800">
                <a:solidFill>
                  <a:srgbClr val="1A1A1A"/>
                </a:solidFill>
              </a:rPr>
              <a:t>Zentraler Egress-Kontrollpunkt</a:t>
            </a:r>
          </a:p>
          <a:p>
            <a:r>
              <a:rPr sz="800">
                <a:solidFill>
                  <a:srgbClr val="1A1A1A"/>
                </a:solidFill>
              </a:rPr>
              <a:t>FQDN-Filterung · NAT · Threat Intel</a:t>
            </a:r>
          </a:p>
          <a:p>
            <a:r>
              <a:rPr sz="800">
                <a:solidFill>
                  <a:srgbClr val="1A1A1A"/>
                </a:solidFill>
              </a:rPr>
              <a:t>Upgrade → Premium ohne Rebuild</a:t>
            </a:r>
          </a:p>
          <a:p>
            <a:r>
              <a:rPr sz="800">
                <a:solidFill>
                  <a:srgbClr val="1A1A1A"/>
                </a:solidFill>
              </a:rPr>
              <a:t>~€700/Monat (1 Region)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13055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66760" y="213055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76488" y="219456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Gateways &amp; Zugriff</a:t>
            </a:r>
          </a:p>
          <a:p>
            <a:r>
              <a:rPr sz="800">
                <a:solidFill>
                  <a:srgbClr val="1A1A1A"/>
                </a:solidFill>
              </a:rPr>
              <a:t>VPN GW VpnGw1AZ: ~€140/Mon.</a:t>
            </a:r>
          </a:p>
          <a:p>
            <a:r>
              <a:rPr sz="800">
                <a:solidFill>
                  <a:srgbClr val="1A1A1A"/>
                </a:solidFill>
              </a:rPr>
              <a:t>Azure Bastion: sicheres RDP/SSH</a:t>
            </a:r>
          </a:p>
          <a:p>
            <a:r>
              <a:rPr sz="800">
                <a:solidFill>
                  <a:srgbClr val="1A1A1A"/>
                </a:solidFill>
              </a:rPr>
              <a:t>ohne Public IP · ~€120/Mon.</a:t>
            </a:r>
          </a:p>
          <a:p>
            <a:r>
              <a:rPr sz="800">
                <a:solidFill>
                  <a:srgbClr val="1A1A1A"/>
                </a:solidFill>
              </a:rPr>
              <a:t>ExpressRoute GW: deferred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63931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363931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370332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DNS &amp; Private Connectivity</a:t>
            </a:r>
          </a:p>
          <a:p>
            <a:r>
              <a:rPr sz="800">
                <a:solidFill>
                  <a:srgbClr val="1A1A1A"/>
                </a:solidFill>
              </a:rPr>
              <a:t>DNS Private Resolver: ~€25/Mon.</a:t>
            </a:r>
          </a:p>
          <a:p>
            <a:r>
              <a:rPr sz="800">
                <a:solidFill>
                  <a:srgbClr val="1A1A1A"/>
                </a:solidFill>
              </a:rPr>
              <a:t>Private DNS Zones: ~€15/Mon.</a:t>
            </a:r>
          </a:p>
          <a:p>
            <a:r>
              <a:rPr sz="800">
                <a:solidFill>
                  <a:srgbClr val="1A1A1A"/>
                </a:solidFill>
              </a:rPr>
              <a:t>Key Vault für Zertifikate</a:t>
            </a:r>
          </a:p>
          <a:p>
            <a:r>
              <a:rPr sz="800">
                <a:solidFill>
                  <a:srgbClr val="1A1A1A"/>
                </a:solidFill>
              </a:rPr>
              <a:t>Event Hub → CrowdStrike SIEM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5148072"/>
            <a:ext cx="3657600" cy="1435608"/>
          </a:xfrm>
          <a:prstGeom prst="rect">
            <a:avLst/>
          </a:prstGeom>
          <a:solidFill>
            <a:srgbClr val="F2F9F5"/>
          </a:solidFill>
          <a:ln w="15875">
            <a:solidFill>
              <a:srgbClr val="075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5148072"/>
            <a:ext cx="64008" cy="1435608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5212080"/>
            <a:ext cx="349300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075033"/>
                </a:solidFill>
              </a:rPr>
              <a:t>Spoke-Schutz</a:t>
            </a:r>
          </a:p>
          <a:p>
            <a:r>
              <a:rPr sz="800">
                <a:solidFill>
                  <a:srgbClr val="1A1A1A"/>
                </a:solidFill>
              </a:rPr>
              <a:t>Jede Workload-Sub = eigenes VNet</a:t>
            </a:r>
          </a:p>
          <a:p>
            <a:r>
              <a:rPr sz="800">
                <a:solidFill>
                  <a:srgbClr val="1A1A1A"/>
                </a:solidFill>
              </a:rPr>
              <a:t>Peering zum Hub-VNet</a:t>
            </a:r>
          </a:p>
          <a:p>
            <a:r>
              <a:rPr sz="800">
                <a:solidFill>
                  <a:srgbClr val="1A1A1A"/>
                </a:solidFill>
              </a:rPr>
              <a:t>UDR: gesamter Traffic über</a:t>
            </a:r>
          </a:p>
          <a:p>
            <a:r>
              <a:rPr sz="800">
                <a:solidFill>
                  <a:srgbClr val="1A1A1A"/>
                </a:solidFill>
              </a:rPr>
              <a:t>Azure Firewall zwingend geleitet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Pilot  ~€50/Monat  (network_type: none)</a:t>
            </a:r>
          </a:p>
          <a:p>
            <a:pPr lvl="1"/>
            <a:r>
              <a:rPr sz="1100"/>
              <a:t>+ Nullrisiko; volles Governance-Set (MGs, Policies, Logging)</a:t>
            </a:r>
          </a:p>
          <a:p>
            <a:pPr lvl="1"/>
            <a:r>
              <a:rPr sz="1100"/>
              <a:t>– Keine Netzwerkkonnektivität; Workloads nicht deploybar</a:t>
            </a:r>
          </a:p>
          <a:p>
            <a:pPr lvl="1"/>
            <a:r>
              <a:rPr sz="1100"/>
              <a:t>  Empfehlung: Einstieg, PoC, Compliance-Audit ohne Netzwerkbedarf</a:t>
            </a:r>
          </a:p>
          <a:p>
            <a:pPr/>
            <a:r>
              <a:rPr sz="1100"/>
              <a:t>Bechtle-Empfehlung  ~€1.050/Monat  (Standard FW, 1 Region)</a:t>
            </a:r>
          </a:p>
          <a:p>
            <a:pPr lvl="1"/>
            <a:r>
              <a:rPr sz="1100"/>
              <a:t>+ Voller Funktionsumfang; 4× günstiger als Microsoft-Default</a:t>
            </a:r>
          </a:p>
          <a:p>
            <a:pPr lvl="1"/>
            <a:r>
              <a:rPr sz="1100"/>
              <a:t>+ Firewall, Bastion, VPN, DNS aktiv; In-Place-Upgrade auf Premium möglich</a:t>
            </a:r>
          </a:p>
          <a:p>
            <a:pPr lvl="1"/>
            <a:r>
              <a:rPr sz="1100"/>
              <a:t>– Keine zweite Region; kein IDPS/TLS; kein DDoS-Schutz</a:t>
            </a:r>
          </a:p>
          <a:p>
            <a:pPr lvl="1"/>
            <a:r>
              <a:rPr sz="1100"/>
              <a:t>  Empfehlung: Standard-Produktionsumgebungen, erste Workloads</a:t>
            </a:r>
          </a:p>
          <a:p>
            <a:pPr/>
            <a:r>
              <a:rPr sz="1100"/>
              <a:t>Geo-Redundanz  ~€1.800/Monat  (+ Hub North Europe)</a:t>
            </a:r>
          </a:p>
          <a:p>
            <a:pPr lvl="1"/>
            <a:r>
              <a:rPr sz="1100"/>
              <a:t>+ Regionale Ausfallsicherheit; zwei unabhängige Netzwerkhubs</a:t>
            </a:r>
          </a:p>
          <a:p>
            <a:pPr lvl="1"/>
            <a:r>
              <a:rPr sz="1100"/>
              <a:t>– Doppelte Netzwerkkosten; erhöhte Betriebskomplexität</a:t>
            </a:r>
          </a:p>
          <a:p>
            <a:pPr lvl="1"/>
            <a:r>
              <a:rPr sz="1100"/>
              <a:t>  Empfehlung: SLA-kritische Systeme, Multi-Region-Anforderungen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Firewall Premium  ~€2.400/Monat  (+ IDPS / TLS-Inspektion)</a:t>
            </a:r>
          </a:p>
          <a:p>
            <a:pPr lvl="1"/>
            <a:r>
              <a:rPr sz="1100"/>
              <a:t>+ IDPS, TLS-Inspektion, URL-Filterung; In-Place-Upgrade ohne Rebuild</a:t>
            </a:r>
          </a:p>
          <a:p>
            <a:pPr lvl="1"/>
            <a:r>
              <a:rPr sz="1100"/>
              <a:t>– +€1.350 ggü. Bechtle-Empfehlung; Zertifikat-Rollout erforderlich</a:t>
            </a:r>
          </a:p>
          <a:p>
            <a:pPr lvl="1"/>
            <a:r>
              <a:rPr sz="1100"/>
              <a:t>  Empfehlung: Hohe Sicherheitsanforderungen, regulierte Branchen</a:t>
            </a:r>
          </a:p>
          <a:p>
            <a:pPr/>
            <a:r>
              <a:rPr sz="1100"/>
              <a:t>DDoS Protection  ~€4.900/Monat  (+ Network Protection Plan)</a:t>
            </a:r>
          </a:p>
          <a:p>
            <a:pPr lvl="1"/>
            <a:r>
              <a:rPr sz="1100"/>
              <a:t>+ Vollständiger DDoS-Schutz für alle öffentlichen IPs; SLA-Garantie</a:t>
            </a:r>
          </a:p>
          <a:p>
            <a:pPr lvl="1"/>
            <a:r>
              <a:rPr sz="1100"/>
              <a:t>– ~€2.500/Monat Fixkosten (Plan Fee), unabhängig von Angriffen</a:t>
            </a:r>
          </a:p>
          <a:p>
            <a:pPr lvl="1"/>
            <a:r>
              <a:rPr sz="1100"/>
              <a:t>  Empfehlung: Nur bei internet-facing Workloads mit realem DDoS-Risiko</a:t>
            </a:r>
          </a:p>
          <a:p>
            <a:pPr/>
            <a:r>
              <a:rPr sz="1100"/>
              <a:t>Microsoft-Default  ~€5.800/Monat  (alle Dienste, 2 Regionen)</a:t>
            </a:r>
          </a:p>
          <a:p>
            <a:pPr lvl="1"/>
            <a:r>
              <a:rPr sz="1100"/>
              <a:t>+ Maximale Redundanz; Enterprise-Standard; Herstellerempfehlung</a:t>
            </a:r>
          </a:p>
          <a:p>
            <a:pPr lvl="1"/>
            <a:r>
              <a:rPr sz="1100"/>
              <a:t>– Höchste Kosten; viele Komponenten initial ungenutzt; Overkill für Start</a:t>
            </a:r>
          </a:p>
          <a:p>
            <a:pPr lvl="1"/>
            <a:r>
              <a:rPr sz="1100"/>
              <a:t>  Empfehlung: Unternehmenskritische Systeme mit strengster Compliance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Bechtle-Varianten: Vier Konfigurationen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Option A – Bechtle-Standard  ~€1.050/Monat  (Baseline)</a:t>
            </a:r>
          </a:p>
          <a:p>
            <a:pPr lvl="1"/>
            <a:r>
              <a:rPr sz="1100"/>
              <a:t>FW Standard 1× ~€700 | VPN GW 1× ~€140 | Bastion ~€120 | DNS ~€25 | LAW ~€50</a:t>
            </a:r>
          </a:p>
          <a:p>
            <a:pPr lvl="1"/>
            <a:r>
              <a:rPr sz="1100"/>
              <a:t>ALZ-konform: Ja  |  Differenz: Referenz</a:t>
            </a:r>
          </a:p>
          <a:p>
            <a:pPr/>
            <a:r>
              <a:rPr sz="1100"/>
              <a:t>Option B – Bechtle-Optimiert  ~€770/Monat  (ALZ-konform)</a:t>
            </a:r>
          </a:p>
          <a:p>
            <a:pPr lvl="1"/>
            <a:r>
              <a:rPr sz="1100"/>
              <a:t>FW Standard reserved ~€560 | VPN Gateway deferred (€0) | Bastion ~€120 | DNS ~€25 | LAW ~€50</a:t>
            </a:r>
          </a:p>
          <a:p>
            <a:pPr lvl="1"/>
            <a:r>
              <a:rPr sz="1100"/>
              <a:t>ALZ-konform: Ja  |  Differenz: −€280/Mon. (26 % günstiger)</a:t>
            </a:r>
          </a:p>
          <a:p>
            <a:pPr/>
            <a:r>
              <a:rPr sz="1100"/>
              <a:t>Option C – Bechtle-Budget  ~€500/Monat  (⚠ ALZ-Bruch)</a:t>
            </a:r>
          </a:p>
          <a:p>
            <a:pPr lvl="1"/>
            <a:r>
              <a:rPr sz="1100"/>
              <a:t>FW Basic ~€300 | VPN Gateway deferred (€0) | Bastion ~€120 | DNS ~€25 | LAW ~€50</a:t>
            </a:r>
          </a:p>
          <a:p>
            <a:pPr lvl="1"/>
            <a:r>
              <a:rPr sz="1100"/>
              <a:t>ALZ-konform: NEIN  |  Differenz: −€550/Mon. (52 % günstiger)</a:t>
            </a:r>
          </a:p>
          <a:p>
            <a:pPr lvl="1"/>
            <a:r>
              <a:rPr sz="1100"/>
              <a:t>Bruch: Firewall Basic = keine App-Rules, kein Threat Intel, kein Autoscaling</a:t>
            </a:r>
          </a:p>
          <a:p>
            <a:pPr/>
            <a:r>
              <a:rPr sz="1100"/>
              <a:t>Option D – Microsoft-Default  ~€5.800/Monat  (maximaler Standard)</a:t>
            </a:r>
          </a:p>
          <a:p>
            <a:pPr lvl="1"/>
            <a:r>
              <a:rPr sz="1100"/>
              <a:t>FW Premium 2× ~€2.200 | DDoS Plan ~€2.500 | ER GW 2× ~€560 | VPN 2× | Bastion 2× | 2 Regionen</a:t>
            </a:r>
          </a:p>
          <a:p>
            <a:pPr lvl="1"/>
            <a:r>
              <a:rPr sz="1100"/>
              <a:t>ALZ-konform: Ja (vollständig)  |  Differenz: +€4.750/Mon. (452 % teurer als A)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